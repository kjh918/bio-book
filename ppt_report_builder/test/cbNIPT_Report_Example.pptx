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5"/>
  </p:notesMasterIdLst>
  <p:sldIdLst>
    <p:sldId id="280" r:id="rId2"/>
    <p:sldId id="263" r:id="rId3"/>
    <p:sldId id="256" r:id="rId4"/>
    <p:sldId id="276" r:id="rId5"/>
    <p:sldId id="282" r:id="rId6"/>
    <p:sldId id="292" r:id="rId7"/>
    <p:sldId id="291" r:id="rId8"/>
    <p:sldId id="297" r:id="rId20"/>
    <p:sldId id="294" r:id="rId9"/>
    <p:sldId id="293" r:id="rId10"/>
    <p:sldId id="289" r:id="rId11"/>
    <p:sldId id="298" r:id="rId21"/>
    <p:sldId id="295" r:id="rId12"/>
    <p:sldId id="296" r:id="rId13"/>
    <p:sldId id="279" r:id="rId14"/>
  </p:sldIdLst>
  <p:sldSz cx="9906000" cy="6858000" type="A4"/>
  <p:notesSz cx="6858000" cy="9144000"/>
  <p:defaultTextStyle>
    <a:defPPr>
      <a:defRPr lang="ko-KR"/>
    </a:defPPr>
    <a:lvl1pPr marL="0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1pPr>
    <a:lvl2pPr marL="350907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2pPr>
    <a:lvl3pPr marL="701815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3pPr>
    <a:lvl4pPr marL="1052722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4pPr>
    <a:lvl5pPr marL="1403631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5pPr>
    <a:lvl6pPr marL="1754538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6pPr>
    <a:lvl7pPr marL="2105446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7pPr>
    <a:lvl8pPr marL="2456353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8pPr>
    <a:lvl9pPr marL="2807261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CC00"/>
    <a:srgbClr val="7B882E"/>
    <a:srgbClr val="E6A722"/>
    <a:srgbClr val="EAEAEA"/>
    <a:srgbClr val="444F26"/>
    <a:srgbClr val="F0F0F0"/>
    <a:srgbClr val="F8F8F8"/>
    <a:srgbClr val="ECECEC"/>
    <a:srgbClr val="E1C721"/>
    <a:srgbClr val="E68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784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DA143-9530-4CAE-BF83-0FEBCED2917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0B75D-CC78-4D8E-9CEE-C7A048809C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64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5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D9FB-DE35-5F98-15B3-0273D80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DD8467-06E8-81F7-F37C-BB3E84E0F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1C4484-E1A9-6B6F-CA0B-69A02D19E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8BFEA-1F96-C797-0181-704BAAB5B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222B-3256-5BE2-4EDE-8637C373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B91A08-6264-2133-D54B-D688EFB7A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1D86E8-260D-A661-1B26-A30F0FF82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BC8C19-E563-1B53-2E26-C18B9CF8D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546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903306" y="6491416"/>
            <a:ext cx="28905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</a:rPr>
              <a:t>COPYRIGHT © 2020 BY GENCURIX. ALL RIGHTS RESERVED.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41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52940" y="1630135"/>
            <a:ext cx="30312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spc="-3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0" scaled="0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Table of contents</a:t>
            </a:r>
            <a:endParaRPr lang="ko-KR" altLang="en-US" sz="3200" b="1" spc="-30" baseline="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0"/>
              </a:gra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 rot="5400000">
            <a:off x="-244438" y="1783620"/>
            <a:ext cx="613765" cy="142847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52940" y="1491635"/>
            <a:ext cx="179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GLOBAL</a:t>
            </a:r>
            <a:r>
              <a:rPr lang="en-US" altLang="ko-KR" sz="1200" baseline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BIO HEALTHCARE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788176" y="2602119"/>
            <a:ext cx="4334954" cy="2999209"/>
            <a:chOff x="727547" y="2498040"/>
            <a:chExt cx="4001496" cy="2499341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7" t="25734" r="24080" b="18575"/>
            <a:stretch/>
          </p:blipFill>
          <p:spPr>
            <a:xfrm>
              <a:off x="727547" y="2499386"/>
              <a:ext cx="2302736" cy="1196349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98" t="8820" r="15010" b="10495"/>
            <a:stretch/>
          </p:blipFill>
          <p:spPr>
            <a:xfrm>
              <a:off x="727547" y="3788592"/>
              <a:ext cx="1503617" cy="120878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04" t="-98" r="12165" b="14309"/>
            <a:stretch/>
          </p:blipFill>
          <p:spPr>
            <a:xfrm>
              <a:off x="3138320" y="2498040"/>
              <a:ext cx="1590723" cy="1191564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" b="11547"/>
            <a:stretch/>
          </p:blipFill>
          <p:spPr>
            <a:xfrm>
              <a:off x="2330824" y="3788592"/>
              <a:ext cx="2398218" cy="1204828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850A2B60-9E02-423C-AC72-86A989C7698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375100" y="247108"/>
            <a:ext cx="1156417" cy="20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6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850A2B60-9E02-423C-AC72-86A989C76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0386" y="247108"/>
            <a:ext cx="1156417" cy="205803"/>
          </a:xfrm>
          <a:prstGeom prst="rect">
            <a:avLst/>
          </a:prstGeom>
        </p:spPr>
      </p:pic>
      <p:sp>
        <p:nvSpPr>
          <p:cNvPr id="18" name="직사각형 17"/>
          <p:cNvSpPr/>
          <p:nvPr userDrawn="1"/>
        </p:nvSpPr>
        <p:spPr>
          <a:xfrm>
            <a:off x="399292" y="0"/>
            <a:ext cx="1497926" cy="148856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5689054C-6171-4789-BBAE-C62ADF3688BF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5596007" y="6562720"/>
            <a:ext cx="4175716" cy="177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/>
          <a:lstStyle/>
          <a:p>
            <a:pPr marL="0" marR="0" indent="0" algn="r" defTabSz="99770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8872E-4CE4-4DE7-BA1A-F3F28E5123FF}" type="slidenum">
              <a:rPr lang="en-US" altLang="ko-KR" sz="1200" i="0" smtClean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0"/>
                </a:gradFill>
                <a:latin typeface="Frutiger55Roman" pitchFamily="34" charset="0"/>
                <a:ea typeface="맑은 고딕" panose="020B0503020000020004" pitchFamily="50" charset="-127"/>
                <a:cs typeface="Arial" pitchFamily="34" charset="0"/>
              </a:rPr>
              <a:pPr marL="0" marR="0" indent="0" algn="r" defTabSz="99770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200" i="0" dirty="0"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0"/>
              </a:gradFill>
              <a:latin typeface="Frutiger55Roman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41F90F73-9480-49CC-A12A-EDC06936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92" y="285982"/>
            <a:ext cx="6964033" cy="205803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>
              <a:defRPr lang="ko-KR" altLang="en-US" sz="1600" kern="120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0"/>
                </a:gradFill>
                <a:latin typeface="Frutiger65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374483" y="613608"/>
            <a:ext cx="915703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58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18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376" y="2802613"/>
            <a:ext cx="1933249" cy="117039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822977" y="6345006"/>
            <a:ext cx="6260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서울특별시 구로구 디지털로</a:t>
            </a:r>
            <a:r>
              <a:rPr lang="en-US" altLang="ko-KR" sz="1050" dirty="0">
                <a:solidFill>
                  <a:schemeClr val="bg1"/>
                </a:solidFill>
              </a:rPr>
              <a:t>242</a:t>
            </a:r>
            <a:r>
              <a:rPr lang="en-US" altLang="ko-KR" sz="1050" baseline="0" dirty="0">
                <a:solidFill>
                  <a:schemeClr val="bg1"/>
                </a:solidFill>
              </a:rPr>
              <a:t> </a:t>
            </a:r>
            <a:r>
              <a:rPr lang="ko-KR" altLang="en-US" sz="1050" dirty="0">
                <a:solidFill>
                  <a:schemeClr val="bg1"/>
                </a:solidFill>
              </a:rPr>
              <a:t>한화비즈메트로 </a:t>
            </a:r>
            <a:r>
              <a:rPr lang="en-US" altLang="ko-KR" sz="1050" dirty="0">
                <a:solidFill>
                  <a:schemeClr val="bg1"/>
                </a:solidFill>
              </a:rPr>
              <a:t>1</a:t>
            </a:r>
            <a:r>
              <a:rPr lang="ko-KR" altLang="en-US" sz="1050" dirty="0">
                <a:solidFill>
                  <a:schemeClr val="bg1"/>
                </a:solidFill>
              </a:rPr>
              <a:t>차  </a:t>
            </a:r>
            <a:r>
              <a:rPr lang="ko-KR" altLang="en-US" sz="1100" dirty="0">
                <a:solidFill>
                  <a:schemeClr val="bg1"/>
                </a:solidFill>
              </a:rPr>
              <a:t>｜ </a:t>
            </a:r>
            <a:r>
              <a:rPr lang="en-US" altLang="ko-KR" sz="1100" dirty="0">
                <a:solidFill>
                  <a:schemeClr val="bg1"/>
                </a:solidFill>
              </a:rPr>
              <a:t>Tel. 02-2621-7038 </a:t>
            </a:r>
            <a:r>
              <a:rPr lang="ko-KR" altLang="en-US" sz="1100" dirty="0">
                <a:solidFill>
                  <a:schemeClr val="bg1"/>
                </a:solidFill>
              </a:rPr>
              <a:t> ｜ </a:t>
            </a:r>
            <a:r>
              <a:rPr lang="en-US" altLang="ko-KR" sz="1100" dirty="0">
                <a:solidFill>
                  <a:schemeClr val="bg1"/>
                </a:solidFill>
              </a:rPr>
              <a:t>Mail. info@gencurix.com</a:t>
            </a:r>
            <a:r>
              <a:rPr lang="ko-KR" altLang="en-US" sz="11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59619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09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4" r:id="rId2"/>
    <p:sldLayoutId id="2147483690" r:id="rId3"/>
    <p:sldLayoutId id="2147483720" r:id="rId4"/>
    <p:sldLayoutId id="214748371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ags" Target="../tags/tag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769833" y="2614940"/>
            <a:ext cx="2291816" cy="1076770"/>
            <a:chOff x="529839" y="4802493"/>
            <a:chExt cx="2291816" cy="1076770"/>
          </a:xfrm>
        </p:grpSpPr>
        <p:sp>
          <p:nvSpPr>
            <p:cNvPr id="14" name="직사각형 13"/>
            <p:cNvSpPr/>
            <p:nvPr/>
          </p:nvSpPr>
          <p:spPr>
            <a:xfrm>
              <a:off x="529839" y="4802493"/>
              <a:ext cx="1076770" cy="10767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0482" y="5202379"/>
              <a:ext cx="835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제목 색상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744885" y="4802493"/>
              <a:ext cx="1076770" cy="10767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65528" y="5202379"/>
              <a:ext cx="835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내용 색상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33101" y="421004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컬러 가이드</a:t>
            </a:r>
            <a:endParaRPr lang="en-US" altLang="ko-KR" sz="1600" b="1" dirty="0"/>
          </a:p>
        </p:txBody>
      </p:sp>
      <p:sp>
        <p:nvSpPr>
          <p:cNvPr id="3" name="직사각형 2"/>
          <p:cNvSpPr/>
          <p:nvPr/>
        </p:nvSpPr>
        <p:spPr>
          <a:xfrm>
            <a:off x="769833" y="925563"/>
            <a:ext cx="1076770" cy="1076770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85053" y="132544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주색상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983335" y="909235"/>
            <a:ext cx="1076770" cy="1076770"/>
          </a:xfrm>
          <a:prstGeom prst="rect">
            <a:avLst/>
          </a:prstGeom>
          <a:solidFill>
            <a:srgbClr val="E6A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21611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98381" y="909235"/>
            <a:ext cx="1076770" cy="1076770"/>
          </a:xfrm>
          <a:prstGeom prst="rect">
            <a:avLst/>
          </a:prstGeom>
          <a:solidFill>
            <a:srgbClr val="7B8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336657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13427" y="909235"/>
            <a:ext cx="1076770" cy="1076770"/>
          </a:xfrm>
          <a:prstGeom prst="rect">
            <a:avLst/>
          </a:prstGeom>
          <a:solidFill>
            <a:srgbClr val="444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551703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628473" y="909235"/>
            <a:ext cx="1076770" cy="107677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766749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보조색상</a:t>
            </a:r>
            <a:endParaRPr lang="en-US" altLang="ko-KR" sz="1200" dirty="0"/>
          </a:p>
        </p:txBody>
      </p:sp>
      <p:sp>
        <p:nvSpPr>
          <p:cNvPr id="20" name="직사각형 19"/>
          <p:cNvSpPr/>
          <p:nvPr/>
        </p:nvSpPr>
        <p:spPr>
          <a:xfrm>
            <a:off x="6843519" y="909235"/>
            <a:ext cx="1076770" cy="10767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981795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보조색상</a:t>
            </a:r>
            <a:endParaRPr lang="en-US" altLang="ko-KR" sz="1200" dirty="0"/>
          </a:p>
        </p:txBody>
      </p:sp>
      <p:sp>
        <p:nvSpPr>
          <p:cNvPr id="22" name="직사각형 21"/>
          <p:cNvSpPr/>
          <p:nvPr/>
        </p:nvSpPr>
        <p:spPr>
          <a:xfrm>
            <a:off x="8058565" y="909235"/>
            <a:ext cx="1076770" cy="10767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196841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02250" y="2057578"/>
            <a:ext cx="2759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이 외에도 무채색은 다양한 농도로 사용 가능</a:t>
            </a:r>
            <a:endParaRPr lang="en-US" altLang="ko-KR" sz="1000" dirty="0"/>
          </a:p>
        </p:txBody>
      </p:sp>
      <p:cxnSp>
        <p:nvCxnSpPr>
          <p:cNvPr id="26" name="직선 연결선 25"/>
          <p:cNvCxnSpPr/>
          <p:nvPr/>
        </p:nvCxnSpPr>
        <p:spPr>
          <a:xfrm>
            <a:off x="633101" y="2396801"/>
            <a:ext cx="863979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9833" y="4340317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/>
              <a:t>불릿</a:t>
            </a:r>
            <a:r>
              <a:rPr lang="ko-KR" altLang="en-US" sz="1600" b="1" dirty="0"/>
              <a:t> 포인트 사용방법</a:t>
            </a:r>
            <a:endParaRPr lang="en-US" altLang="ko-KR" sz="16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633101" y="4042994"/>
            <a:ext cx="86397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9832" y="5031405"/>
            <a:ext cx="2020105" cy="305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shift+alt</a:t>
            </a:r>
            <a:r>
              <a:rPr lang="en-US" altLang="ko-KR" dirty="0"/>
              <a:t>+</a:t>
            </a:r>
            <a:r>
              <a:rPr lang="ko-KR" altLang="en-US" dirty="0"/>
              <a:t>→</a:t>
            </a:r>
            <a:r>
              <a:rPr lang="en-US" altLang="ko-KR" dirty="0"/>
              <a:t>(</a:t>
            </a:r>
            <a:r>
              <a:rPr lang="ko-KR" altLang="en-US" dirty="0" err="1"/>
              <a:t>좌우방향키</a:t>
            </a:r>
            <a:r>
              <a:rPr lang="en-US" altLang="ko-KR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1649" y="5031405"/>
            <a:ext cx="595035" cy="305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내용 개체 틀 44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656684" y="4708444"/>
            <a:ext cx="814554" cy="1292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latinLnBrk="0" hangingPunct="1">
              <a:lnSpc>
                <a:spcPct val="120000"/>
              </a:lnSpc>
            </a:pPr>
            <a:r>
              <a:rPr lang="en-US" altLang="ko-KR" sz="1400" b="1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AAAA</a:t>
            </a:r>
            <a:endParaRPr lang="en-US" altLang="ko-KR" sz="1400" kern="0" dirty="0">
              <a:solidFill>
                <a:srgbClr val="000000"/>
              </a:solidFill>
              <a:ea typeface="맑은 고딕" panose="020B0503020000020004" pitchFamily="50" charset="-127"/>
              <a:cs typeface="Arial"/>
              <a:sym typeface="Arial"/>
            </a:endParaRPr>
          </a:p>
          <a:p>
            <a:pPr lvl="2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BBBB</a:t>
            </a:r>
          </a:p>
          <a:p>
            <a:pPr lvl="2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CCCC</a:t>
            </a:r>
          </a:p>
          <a:p>
            <a:pPr lvl="3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DDDD</a:t>
            </a:r>
          </a:p>
          <a:p>
            <a:pPr lvl="4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EEEE</a:t>
            </a:r>
          </a:p>
        </p:txBody>
      </p:sp>
    </p:spTree>
    <p:extLst>
      <p:ext uri="{BB962C8B-B14F-4D97-AF65-F5344CB8AC3E}">
        <p14:creationId xmlns:p14="http://schemas.microsoft.com/office/powerpoint/2010/main" val="37016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566619" y="1179308"/>
            <a:ext cx="949299" cy="800219"/>
            <a:chOff x="882502" y="1028319"/>
            <a:chExt cx="949299" cy="800219"/>
          </a:xfrm>
        </p:grpSpPr>
        <p:sp>
          <p:nvSpPr>
            <p:cNvPr id="3" name="TextBox 2"/>
            <p:cNvSpPr txBox="1"/>
            <p:nvPr/>
          </p:nvSpPr>
          <p:spPr>
            <a:xfrm>
              <a:off x="882502" y="1028319"/>
              <a:ext cx="9492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/>
                <a:t>cbNIPT Analysis Report</a:t>
              </a:r>
              <a:endParaRPr lang="ko-KR" altLang="en-US" sz="2400" b="1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82502" y="1489984"/>
              <a:ext cx="9371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Chromosome 13 Trisomy Detection, Sample NIPT-2026-0143</a:t>
              </a:r>
              <a:endPara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2" y="1044720"/>
            <a:ext cx="108063" cy="1069394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034" y="1104695"/>
            <a:ext cx="1555162" cy="9402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825474" y="6230968"/>
            <a:ext cx="16946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지훈 ｜ Clinical Bioinformatics Team ｜ 2026-07-08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47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6041318" y="2847640"/>
            <a:ext cx="2291711" cy="2459893"/>
            <a:chOff x="5605383" y="2657800"/>
            <a:chExt cx="2291711" cy="2459893"/>
          </a:xfrm>
        </p:grpSpPr>
        <p:grpSp>
          <p:nvGrpSpPr>
            <p:cNvPr id="5" name="그룹 4"/>
            <p:cNvGrpSpPr/>
            <p:nvPr/>
          </p:nvGrpSpPr>
          <p:grpSpPr>
            <a:xfrm>
              <a:off x="5605383" y="2657800"/>
              <a:ext cx="2291711" cy="401603"/>
              <a:chOff x="5929576" y="2681218"/>
              <a:chExt cx="2291711" cy="40160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Introduction &amp; Workflow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1</a:t>
                </a:r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5605383" y="4716090"/>
              <a:ext cx="2291711" cy="401603"/>
              <a:chOff x="5929576" y="2681218"/>
              <a:chExt cx="2291711" cy="401603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Conclusion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4</a:t>
                </a:r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5605383" y="3338683"/>
              <a:ext cx="2291711" cy="401603"/>
              <a:chOff x="5929576" y="2681218"/>
              <a:chExt cx="2291711" cy="40160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Sample Information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2</a:t>
                </a: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5605383" y="4003501"/>
              <a:ext cx="2291711" cy="401603"/>
              <a:chOff x="5929576" y="2681218"/>
              <a:chExt cx="2291711" cy="40160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Results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4770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/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Introduction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01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/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566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43"/>
          <p:cNvGrpSpPr/>
          <p:nvPr/>
        </p:nvGrpSpPr>
        <p:grpSpPr>
          <a:xfrm>
            <a:off x="666403" y="1983950"/>
            <a:ext cx="8573193" cy="1553911"/>
            <a:chOff x="502938" y="2881099"/>
            <a:chExt cx="8573193" cy="1553911"/>
          </a:xfrm>
        </p:grpSpPr>
        <p:cxnSp>
          <p:nvCxnSpPr>
            <p:cNvPr id="30" name="직선 연결선 29"/>
            <p:cNvCxnSpPr/>
            <p:nvPr/>
          </p:nvCxnSpPr>
          <p:spPr>
            <a:xfrm>
              <a:off x="502938" y="2881099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>
              <a:off x="502938" y="4435010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1040490" y="854312"/>
            <a:ext cx="7672798" cy="750724"/>
            <a:chOff x="1025394" y="1629374"/>
            <a:chExt cx="7672798" cy="750724"/>
          </a:xfrm>
        </p:grpSpPr>
        <p:sp>
          <p:nvSpPr>
            <p:cNvPr id="5" name="TextBox 4"/>
            <p:cNvSpPr txBox="1"/>
            <p:nvPr/>
          </p:nvSpPr>
          <p:spPr>
            <a:xfrm>
              <a:off x="1025394" y="1989721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Purpose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57840" y="1629374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01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" name="내용 개체 틀 44"/>
            <p:cNvSpPr txBox="1"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819153" y="1863033"/>
              <a:ext cx="4879039" cy="5170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>
                <a:lnSpc>
                  <a:spcPct val="120000"/>
                </a:lnSpc>
              </a:pP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Non-invasive detection of fetal chromosomal aneuploidy from maternal plasma cfDNA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037460" y="2274986"/>
            <a:ext cx="7831077" cy="880828"/>
            <a:chOff x="1022364" y="3050048"/>
            <a:chExt cx="7831077" cy="880828"/>
          </a:xfrm>
        </p:grpSpPr>
        <p:sp>
          <p:nvSpPr>
            <p:cNvPr id="9" name="TextBox 8"/>
            <p:cNvSpPr txBox="1"/>
            <p:nvPr/>
          </p:nvSpPr>
          <p:spPr>
            <a:xfrm>
              <a:off x="1025394" y="3401500"/>
              <a:ext cx="868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Results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22364" y="3050048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02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" name="내용 개체 틀 44"/>
            <p:cNvSpPr txBox="1"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819153" y="3241456"/>
              <a:ext cx="5034288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Chromosome 13 Z-score = 3.8 (positive for trisomy 13)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040490" y="3845990"/>
            <a:ext cx="7828048" cy="884604"/>
            <a:chOff x="1025394" y="4621052"/>
            <a:chExt cx="7828048" cy="884604"/>
          </a:xfrm>
        </p:grpSpPr>
        <p:sp>
          <p:nvSpPr>
            <p:cNvPr id="12" name="TextBox 11"/>
            <p:cNvSpPr txBox="1"/>
            <p:nvPr/>
          </p:nvSpPr>
          <p:spPr>
            <a:xfrm>
              <a:off x="1025394" y="4976280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Conclusion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57840" y="4621052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03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" name="내용 개체 틀 44"/>
            <p:cNvSpPr txBox="1"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819153" y="4816236"/>
              <a:ext cx="5034289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Result is consistent with Trisomy 13; confirmatory testing recommended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sp>
        <p:nvSpPr>
          <p:cNvPr id="11" name="제목 1">
            <a:extLst>
              <a:ext uri="{FF2B5EF4-FFF2-40B4-BE49-F238E27FC236}">
                <a16:creationId xmlns:a16="http://schemas.microsoft.com/office/drawing/2014/main" id="{658FFB1E-953D-A57D-098E-E101EF9F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67" y="242440"/>
            <a:ext cx="6964033" cy="205803"/>
          </a:xfrm>
        </p:spPr>
        <p:txBody>
          <a:bodyPr/>
          <a:lstStyle/>
          <a:p>
            <a:r>
              <a:rPr lang="en-US" altLang="ko-KR" b="1" dirty="0"/>
              <a:t>Summary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7ECF767-FD0A-D761-2DAB-4A888E49D43E}"/>
              </a:ext>
            </a:extLst>
          </p:cNvPr>
          <p:cNvGrpSpPr/>
          <p:nvPr/>
        </p:nvGrpSpPr>
        <p:grpSpPr>
          <a:xfrm>
            <a:off x="1037460" y="5256779"/>
            <a:ext cx="7828048" cy="884604"/>
            <a:chOff x="1025394" y="4621052"/>
            <a:chExt cx="7828048" cy="88460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41431B-D8F2-2778-6CF6-666D94DD710B}"/>
                </a:ext>
              </a:extLst>
            </p:cNvPr>
            <p:cNvSpPr txBox="1"/>
            <p:nvPr/>
          </p:nvSpPr>
          <p:spPr>
            <a:xfrm>
              <a:off x="1025394" y="4976280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Further Study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12AD7D-F2DA-A018-B226-3A4AED1FF779}"/>
                </a:ext>
              </a:extLst>
            </p:cNvPr>
            <p:cNvSpPr txBox="1"/>
            <p:nvPr/>
          </p:nvSpPr>
          <p:spPr>
            <a:xfrm>
              <a:off x="1057840" y="4621052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04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9" name="내용 개체 틀 44">
              <a:extLst>
                <a:ext uri="{FF2B5EF4-FFF2-40B4-BE49-F238E27FC236}">
                  <a16:creationId xmlns:a16="http://schemas.microsoft.com/office/drawing/2014/main" id="{9BED5AE1-214A-1382-0EEC-E7E6E227B424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819153" y="4816236"/>
              <a:ext cx="5034289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Karyotype or CMA confirmation via amniocentesis recommended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C4CE517-6FB6-D61B-0201-6FF0990616C7}"/>
              </a:ext>
            </a:extLst>
          </p:cNvPr>
          <p:cNvGrpSpPr/>
          <p:nvPr/>
        </p:nvGrpSpPr>
        <p:grpSpPr>
          <a:xfrm>
            <a:off x="666402" y="4969520"/>
            <a:ext cx="8573193" cy="1553911"/>
            <a:chOff x="502938" y="2881099"/>
            <a:chExt cx="8573193" cy="1553911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17B5C44-D61E-6991-A05F-42BBD463B6F2}"/>
                </a:ext>
              </a:extLst>
            </p:cNvPr>
            <p:cNvCxnSpPr/>
            <p:nvPr/>
          </p:nvCxnSpPr>
          <p:spPr>
            <a:xfrm>
              <a:off x="502938" y="2881099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BC822109-0074-BC5C-EE1D-6697C4F4BCAE}"/>
                </a:ext>
              </a:extLst>
            </p:cNvPr>
            <p:cNvCxnSpPr/>
            <p:nvPr/>
          </p:nvCxnSpPr>
          <p:spPr>
            <a:xfrm>
              <a:off x="502938" y="4435010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94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EFB7-92BE-7F91-7355-B2F50F3D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9B7E2-7EC6-DA4E-D3E2-BD51F9AC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Introduction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4985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968E-690A-AE1E-3920-256126AF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D742ED12-CA18-6E57-9005-4D65B337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92" y="285982"/>
            <a:ext cx="6964033" cy="205803"/>
          </a:xfrm>
        </p:spPr>
        <p:txBody>
          <a:bodyPr/>
          <a:lstStyle/>
          <a:p>
            <a:r>
              <a:rPr lang="en-US" altLang="ko-KR" b="1" dirty="0"/>
              <a:t>Workflow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585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9912-D4DB-8C57-6AC2-962A3074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116C8-5B4D-F78A-EB19-F7DC3580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Sample Information</a:t>
            </a:r>
            <a:endParaRPr lang="ko-KR" altLang="en-US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033" y="807446"/>
          <a:ext cx="8931933" cy="23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983"/>
                <a:gridCol w="2232983"/>
                <a:gridCol w="2232983"/>
                <a:gridCol w="2232984"/>
              </a:tblGrid>
              <a:tr h="119776">
                <a:tc>
                  <a:txBody>
                    <a:bodyPr/>
                    <a:lstStyle/>
                    <a:p>
                      <a:r>
                        <a:rPr b="1"/>
                        <a:t>Sample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Gestational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Fetal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Total Reads</a:t>
                      </a:r>
                    </a:p>
                  </a:txBody>
                  <a:tcPr/>
                </a:tc>
              </a:tr>
              <a:tr h="119777">
                <a:tc>
                  <a:txBody>
                    <a:bodyPr/>
                    <a:lstStyle/>
                    <a:p>
                      <a:r>
                        <a:t>NIPT-2026-0143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12w3d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6,842,110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41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D92BB-C6D3-A22D-A154-7FAAAEFB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7084C995-3C90-A9E9-47EF-4DECF7F57C93}"/>
              </a:ext>
            </a:extLst>
          </p:cNvPr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72AF0F-F2C6-6D39-6503-E14F3D30D63E}"/>
                </a:ext>
              </a:extLst>
            </p:cNvPr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Results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C154A2A-4AF5-DC17-6549-D406A685FC7E}"/>
                </a:ext>
              </a:extLst>
            </p:cNvPr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9D26B-9838-D93F-EC21-0FBB33317751}"/>
                  </a:ext>
                </a:extLst>
              </p:cNvPr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02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265DDA-5193-2BE6-C5C3-D5B1575E883F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90400A-C3C5-39DC-CFC6-3A397226ED6D}"/>
              </a:ext>
            </a:extLst>
          </p:cNvPr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84887C3-5825-5E96-C2B1-9DC86E962E8D}"/>
                </a:ext>
              </a:extLst>
            </p:cNvPr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A5B6790-715A-D1EB-9117-72DE88A71115}"/>
                </a:ext>
              </a:extLst>
            </p:cNvPr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605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</a:rPr>
              <a:t>Results : Chromosome 13 Z-score Overview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C4F5E-95C3-3044-BCDB-ACAE590E9D22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Chromosome 13 Z-score Overview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5" name="Picture 4" descr="demo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127" y="1408337"/>
            <a:ext cx="673742" cy="23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0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7BE9-1934-441A-6C07-3A57BF4E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8175B37-3A47-A5EE-59C6-7236675FB2EA}"/>
              </a:ext>
            </a:extLst>
          </p:cNvPr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98BAB33-B719-C5C7-1FD8-3BA4D3CF8CBB}"/>
                </a:ext>
              </a:extLst>
            </p:cNvPr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Conclusion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40E5ED2-48A2-7AE9-2084-65E7BEA98C5C}"/>
                </a:ext>
              </a:extLst>
            </p:cNvPr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DEABF4-7366-4CB3-ED3A-1D0A4D6B8F35}"/>
                  </a:ext>
                </a:extLst>
              </p:cNvPr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03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E41F74-CB83-F168-F4F8-78D5F30428AD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B0D4C27-0E97-F9F3-4D30-A306F515D466}"/>
              </a:ext>
            </a:extLst>
          </p:cNvPr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1C83E3C-89C7-D51D-EDF6-FF0E88933DCB}"/>
                </a:ext>
              </a:extLst>
            </p:cNvPr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4D5828D-F82A-DF3C-2F6F-18E9B4C1CF3D}"/>
                </a:ext>
              </a:extLst>
            </p:cNvPr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249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2070D-E90B-F3C4-0209-B00B611D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FD406-B6C0-06D1-8D6F-F2FB1EB1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Conclusion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348A7-FA95-18F8-DFD5-8199F4A7C7CA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Chromosome 13 Trisomy Detected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내용 개체 틀 44">
            <a:extLst>
              <a:ext uri="{FF2B5EF4-FFF2-40B4-BE49-F238E27FC236}">
                <a16:creationId xmlns:a16="http://schemas.microsoft.com/office/drawing/2014/main" id="{6444BA9F-A789-C797-78C8-17DD334E44C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487032" y="1408337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Z-score of 3.8 on chromosome 13 exceeds the +3.0 clinical threshold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Fetal fraction (11.2%) is within the validated range for reliable calling</a:t>
            </a:r>
          </a:p>
        </p:txBody>
      </p:sp>
      <p:sp>
        <p:nvSpPr>
          <p:cNvPr id="6" name="내용 개체 틀 44">
            <a:extLst>
              <a:ext uri="{FF2B5EF4-FFF2-40B4-BE49-F238E27FC236}">
                <a16:creationId xmlns:a16="http://schemas.microsoft.com/office/drawing/2014/main" id="{C2A9C0A6-68EE-1CE5-CCCE-9361CB6908E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487031" y="4521651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Recommend confirmatory diagnostic testing (amniocentesis / CVS)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Genetic counseling referral advised prior to further testing</a:t>
            </a:r>
          </a:p>
        </p:txBody>
      </p:sp>
    </p:spTree>
    <p:extLst>
      <p:ext uri="{BB962C8B-B14F-4D97-AF65-F5344CB8AC3E}">
        <p14:creationId xmlns:p14="http://schemas.microsoft.com/office/powerpoint/2010/main" val="2060301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75720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9A7116C8-5B4D-F78A-EB19-F7DC3580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Workflow</a:t>
            </a:r>
            <a:endParaRPr lang="ko-KR" altLang="en-US" b="1" dirty="0"/>
          </a:p>
        </p:txBody>
      </p:sp>
      <p:sp>
        <p:nvSpPr>
          <p:cNvPr id="4" name="내용 개체 틀 44">
            <a:extLst>
              <a:ext uri="{FF2B5EF4-FFF2-40B4-BE49-F238E27FC236}">
                <a16:creationId xmlns:a16="http://schemas.microsoft.com/office/drawing/2014/main" id="{53F8F814-1D77-4140-C7FF-E3461E2F0D1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487033" y="807446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cfDNA extraction from maternal plasma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Library preparation and low-pass whole-genome sequencing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Read alignment (GRCh38) and GC-bias correction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Bin-level read count normalization and Z-score calculation per chromosome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</a:rPr>
              <a:t>Results : Chromosomal Aneuploidy Call Summary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C4F5E-95C3-3044-BCDB-ACAE590E9D22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Chromosomal Aneuploidy Call Summary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7032" y="1408337"/>
          <a:ext cx="8931933" cy="23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311"/>
                <a:gridCol w="2977311"/>
                <a:gridCol w="2977311"/>
              </a:tblGrid>
              <a:tr h="47910">
                <a:tc>
                  <a:txBody>
                    <a:bodyPr/>
                    <a:lstStyle/>
                    <a:p>
                      <a:r>
                        <a:rPr b="1"/>
                        <a:t>Chromosome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Call</a:t>
                      </a:r>
                    </a:p>
                  </a:txBody>
                  <a:tcPr/>
                </a:tc>
              </a:tr>
              <a:tr h="479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Positive (Trisomy 13)</a:t>
                      </a:r>
                    </a:p>
                  </a:txBody>
                  <a:tcPr/>
                </a:tc>
              </a:tr>
              <a:tr h="4791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</a:tr>
              <a:tr h="4791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</a:tr>
              <a:tr h="47913"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(Female)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8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1663</TotalTime>
  <Words>198</Words>
  <Application>Microsoft Office PowerPoint</Application>
  <PresentationFormat>A4 용지(210x297mm)</PresentationFormat>
  <Paragraphs>70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Frutiger55Roman</vt:lpstr>
      <vt:lpstr>Frutiger65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Summary</vt:lpstr>
      <vt:lpstr>Introduction</vt:lpstr>
      <vt:lpstr>Workflow</vt:lpstr>
      <vt:lpstr>Sample Information</vt:lpstr>
      <vt:lpstr>PowerPoint 프레젠테이션</vt:lpstr>
      <vt:lpstr>Results : [TITLE]</vt:lpstr>
      <vt:lpstr>PowerPoint 프레젠테이션</vt:lpstr>
      <vt:lpstr>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김연희</dc:creator>
  <cp:lastModifiedBy>김 지훈</cp:lastModifiedBy>
  <cp:revision>209</cp:revision>
  <dcterms:created xsi:type="dcterms:W3CDTF">2020-08-05T04:40:40Z</dcterms:created>
  <dcterms:modified xsi:type="dcterms:W3CDTF">2026-07-07T23:03:55Z</dcterms:modified>
</cp:coreProperties>
</file>